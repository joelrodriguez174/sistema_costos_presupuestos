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F172A"/>
                </a:solidFill>
                <a:latin typeface="Segoe UI"/>
              </a:defRPr>
            </a:pPr>
            <a:r>
              <a:t>Sistema de Costos</a:t>
            </a:r>
            <a:br/>
            <a:r>
              <a:t>y Presupuestos</a:t>
            </a:r>
          </a:p>
          <a:p>
            <a:pPr>
              <a:spcAft>
                <a:spcPts val="24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Presentación funcional y técnica, pantalla por pantalla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Guía explicativa de cada sección del sistema: qué es cada componente,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qué función cumple y cómo opera la lógica financiera interna.</a:t>
            </a:r>
          </a:p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Modelo de Costeo por Absorción con Masa Consolidada CIF/SIF,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Punto de Equilibrio multiproducto y Simulación de Escenarios What-If.</a:t>
            </a:r>
          </a:p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Stack: React 19  •  Vite  •  Zustand  •  Motor Financiero Multiproducto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Sistema de Costos y Presupuestos  ·  Diapositiva 1 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550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Tablero de Control — KPIs Ejecutivos y Cobertura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Pantalla principal: monitoreo financiero, absorción de costos fijos y punto de equilibrio.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28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2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Sistema de Costos y Presupuestos  ·  Diapositiva 2 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550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" y="1024128"/>
            <a:ext cx="5998464" cy="5084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5943600" cy="4516517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886968" y="1065276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5463540" y="1517904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788920" y="2020824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788920" y="2624328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2788920" y="2976372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051560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12280" y="112471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1088136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Barra de Navegación y Tema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Barra superior con logotipo, 4 enlaces a los módulos y conmutador de tema oscuro/claro.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Permite acceder a cualquier módulo desde cualquier pantalla y adaptar la estética visual.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React Router DOM v7 gestiona las rutas. Zustand persiste el tema elegido en localStorage.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2072030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12280" y="214518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2108606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Selector de Driver de Asignación CIF/SIF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Interruptor que alterna la base de distribución de costos indirectos.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Cambia el criterio de prorrateo entre 'Unidades Vendidas' y 'Horas de Producción'.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Al cambiar cifBase en Zustand, se recalcula factor = driverProducto / totalDriver para cada producto.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3092500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12280" y="316565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3129076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Tarjetas KPI Financieras (4 indicadores)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Ingresos Totales, Costo Variable, Margen de Contribución y Resultado Operativo.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Resume la salud comercial del período: si el resultado es positivo hay ganancia, si es negativo hay pérdida.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getMetrics() calcula: Resultado Operativo = Margen de Contribución Total − Costos Fijos Totales.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4112971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12280" y="4186123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4149547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Masa Consolidada de Indirectos CIF/SIF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Panel que muestra el total de costos indirectos agrupados (MOI + CIF Operativo + Gastos Admin).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Garantiza transparencia: todos los gastos generales quedan visibles y el 100% se distribuye.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Suma en una pasada todos los comprobantes que no son MPD, separando por rubro funcional.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5133441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12280" y="5206593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5170017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Barra de Cobertura del Punto de Equilibrio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Indicador de progreso con las ventas mínimas necesarias y el margen de seguridad.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Muestra cuánto del umbral se ha cubierto y el colchón disponible antes de entrar en pérdida.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Punto Equilibrio ($) = Costos Fijos / IMC Promedio. Barra verde si supera el 100%, roja si 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Tablero de Control — Simulación de Escenarios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Motor de sensibilidad What-If, presets de estrés comercial y gráficos dinámicos de rentabilidad.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28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3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Sistema de Costos y Presupuestos  ·  Diapositiva 3 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550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" y="1024128"/>
            <a:ext cx="5998464" cy="5084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5943600" cy="4516517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788920" y="3479292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4869180" y="3831336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194560" y="4937760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166360" y="4686300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051560"/>
            <a:ext cx="5074920" cy="12024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12280" y="112471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1088136"/>
            <a:ext cx="4617720" cy="1129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Alerta de Superávit / Déficit Operativo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Banner que diagnostica si el escenario actual genera ganancia o pérdida.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Si hay superávit, muestra el monto ganado en verde. Si hay déficit, alerta en rojo el faltante.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Evalúa resultadoOperativo &gt;= 0 y renderiza la alerta correspondiente con montos exactos.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2327148"/>
            <a:ext cx="5074920" cy="12024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12280" y="240030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2363724"/>
            <a:ext cx="4617720" cy="1129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Presets Rápidos de Escenarios What-If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Botonera de pruebas: +20% Ventas, −20% Ventas, +15% Precios, −10% Precios.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Aplica un escenario comercial a toda la cartera en un solo clic para evaluar el impacto.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applyPresetScenario() aplica factores multiplicadores temporales en simOverrides de Zustand.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3602736"/>
            <a:ext cx="5074920" cy="12024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12280" y="3675888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3639312"/>
            <a:ext cx="4617720" cy="1129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Gráfico de Rentabilidad por Producto (SVG)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Barras comparativas para cada línea de servicio: Ventas, Costos Variables y Margen.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Permite identificar visualmente qué servicios aportan más margen y cuáles menos.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Genera rectángulos SVG proporcionados al máximo ingreso, actualizados en tiempo real.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4878324"/>
            <a:ext cx="5074920" cy="12024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12280" y="4951476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4914900"/>
            <a:ext cx="4617720" cy="1129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Sliders de Simulación Individual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Controles deslizantes de precio y volumen por producto.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Permiten ajustar la demanda o el precio de un servicio específico y ver el resultado al instante.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Cada cambio llama updateSimOverride(prodId, campo, valor) y recalcula todo sin recargar.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Catálogo de Productos y Servicios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Gestión de la cartera de servicios, parámetros de demanda, horas de producción y precios.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28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4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Sistema de Costos y Presupuestos  ·  Diapositiva 4 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550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" y="1024128"/>
            <a:ext cx="5998464" cy="5084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catalogo_produc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5943600" cy="4516517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194560" y="1769364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5641848" y="1769364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1897380" y="2372868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3383280" y="2724912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0" y="3026664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051560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12280" y="112471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1088136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Título y Descripción del Módulo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Encabezado 'Catálogo de Productos Peluquería' con subtítulo descriptivo.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Identifica la sección y su propósito: gestión de líneas, volúmenes y precios de competencia.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Componente ProductsSection renderiza el título desde la página ProductsPage.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2072030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12280" y="214518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2108606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Botón '+ Nuevo Producto'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Acción principal azul para dar de alta un nuevo servicio.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Abre la ventana modal de registro con los campos vacíos, listos para completar.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Ejecuta openForAdd() en el hook useModal, reseteando el formulario a valores iniciales.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3092500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12280" y="316565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3129076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Buscador de Productos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Campo de texto para filtrar la tabla por nombre.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Permite encontrar rápidamente un servicio cuando la cartera es extensa.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Filtra products en memoria con useMemo y un .filter() sobre el nombre en minúsculas.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4112971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12280" y="4186123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4149547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Tabla del Catálogo (Columnas)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Grilla con: Nombre, Unidades Vendidas (mensual), Horas Producción, Precio Competencia, Precio Venta.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Consolida las variables que alimentan el motor de costos: volumen, esfuerzo y precios de mercado.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Mapea la colección products del store y aplica formateadores de moneda y separadores de miles.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5133441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12280" y="5206593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5170017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Acciones por Fila (Editar / Eliminar)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Iconos de lápiz (editar) y papelera (eliminar) en cada fila.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Permite modificar los datos de un producto o quitarlo del catálogo (con confirmación).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Editar: carga el producto en el modal. Eliminar: pide confirmación y borra producto + overrides.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Modal de Alta y Edición de Producto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Formulario emergente para registrar o modificar servicios con sus variables operativas y comerciales.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28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5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Sistema de Costos y Presupuestos  ·  Diapositiva 5 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550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" y="1024128"/>
            <a:ext cx="5998464" cy="5084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modal_produc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5943600" cy="4516517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3383280" y="2523744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3383280" y="2926080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967228" y="3328416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3799331" y="3328416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2967228" y="3781043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5" name="Oval 14"/>
          <p:cNvSpPr/>
          <p:nvPr/>
        </p:nvSpPr>
        <p:spPr>
          <a:xfrm>
            <a:off x="3799331" y="3781043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6" name="Oval 15"/>
          <p:cNvSpPr/>
          <p:nvPr/>
        </p:nvSpPr>
        <p:spPr>
          <a:xfrm>
            <a:off x="3799331" y="4283964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1051560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12280" y="112471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1088136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Encabezado del Modal y Cierre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Título contextual ('Alta de Nuevo Producto' o 'Editar Producto Capilar') con botón X.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Identifica la operación en curso y permite cerrar sin guardar cambios.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Evalúa si existe editingItem para definir el título. El botón X ejecuta close().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2072030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12280" y="214518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2108606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Nombre del Producto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Campo de texto obligatorio con placeholder descriptivo.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Registra la denominación comercial del servicio que aparece en todo el sistema.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Controlado por form.name, validado con el atributo HTML5 required.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3092500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12280" y="316565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3-4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3129076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Unidades Vendidas y Horas de Producción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Inputs numéricos de volumen mensual estimado y tiempo de producción.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Definen la escala de demanda y el esfuerzo requerido (drivers para prorrateo CIF).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Las unidades calculan el costo unitario directo; las horas sirven como driver alternativo.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4112971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12280" y="4186123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5-6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4149547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Precio Competencia y Precio de Venta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Campos monetarios de referencia de mercado y tarifa al público.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El precio competencia es el benchmark; el precio de venta alimenta los ingresos brutos.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Se usan para calcular Ingresos = Precio × Unidades y para el badge de Competitividad.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5133441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12280" y="5206593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8312" y="5170017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Botones Cancelar y Registrar / Guardar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Acciones de pie del modal para abortar o confirmar.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Cancela sin cambios o persiste el producto en el store global.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handleSubmit genera ID 'prod-timestamp' para altas o actualiza el existente en Zustand.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Comprobantes y Gastos — Clasificación Contable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Registro de erogaciones, clasificación por rubro funcional (MPD, MOI, CIF, Admin) y comportamiento.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28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6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Sistema de Costos y Presupuestos  ·  Diapositiva 6 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550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" y="1024128"/>
            <a:ext cx="5998464" cy="5084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comprobantes_gas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5943600" cy="49530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194560" y="1417320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5463540" y="1417320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4274820" y="1769364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670048" y="2171700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3561588" y="2171700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5" name="Oval 14"/>
          <p:cNvSpPr/>
          <p:nvPr/>
        </p:nvSpPr>
        <p:spPr>
          <a:xfrm>
            <a:off x="4155948" y="2171700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1051560"/>
            <a:ext cx="50749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12280" y="112471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1088136"/>
            <a:ext cx="46177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Encabezado del Módulo de Gastos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Título 'Comprobantes y Registro de Gastos' con descripción de rubros que abarca.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Contextualiza el propósito: cargar facturas de MPD, sueldos indirectos y costos de salón.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Componente VouchersSection con subtítulo informativo estático.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1901952"/>
            <a:ext cx="50749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12280" y="197510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1938528"/>
            <a:ext cx="46177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Botón '+ Cargar Comprobante'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Acción primaria que despliega el formulario de carga de gastos.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Inicia el proceso de registro de una nueva erogación clasificada.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Ejecuta openForAdd(defaultForm) con valores iniciales seguros.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752344"/>
            <a:ext cx="50749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12280" y="2825496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2788920"/>
            <a:ext cx="46177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Filtros por Rubro (Tabs)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Botones 'Todos', 'Insumos (MPD)', 'Mano de Obra (MOI)', 'Costos Indirectos (CIF)', 'Admin'.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Filtran la tabla para mostrar solo los comprobantes de una categoría específica.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Filtro en memoria que recorre vouchers por su campo functionalType.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3602736"/>
            <a:ext cx="50749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12280" y="3675888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2" y="3639312"/>
            <a:ext cx="46177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Columna Tipo Funcional (Badges de Color)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Insignias que clasifican: Materiales Directos (azul), MOI (verde), CIF (naranja), Admin (gris).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Permite identificar de un vistazo a qué rubro contable pertenece cada erogación.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Si es MPD, se asocia directamente a un producto. Si es MOI/CIF/Admin, entra a la masa consolidada.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4453128"/>
            <a:ext cx="50749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12280" y="452628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4489704"/>
            <a:ext cx="46177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Columna Comportamiento (Variable / Fijo)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Indica si el costo escala con la producción (Variable) o es constante (Fijo).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Fundamental para separar los costos que entran al CVU de los que conforman el Punto de Equilibrio.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Los variables se usan en Costo Variable Unitario; los fijos forman los Costos Fijos Totales.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5303519"/>
            <a:ext cx="50749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12280" y="5376671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5340095"/>
            <a:ext cx="46177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Columna 'Asociado A'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Indica el producto destinatario (para MPD) o 'Base Consolidada (CIF/SIF)' para indirectos.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Controla si el gasto se imputa de forma directa a un servicio o si se distribuye por driver.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MPD: vinculado por associatedProduct. Indirectos: se distribuyen proporcionalmente por driver.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Modal de Carga de Comprobante / Gasto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Formulario contable con clasificación funcional, comportamiento económico y asociación a producto.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28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7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Sistema de Costos y Presupuestos  ·  Diapositiva 7 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550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" y="1024128"/>
            <a:ext cx="5998464" cy="5084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modal_comprob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5943600" cy="49530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907792" y="1819656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907792" y="2121408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491740" y="2372868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3502152" y="2372868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2907792" y="2674620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5" name="Oval 14"/>
          <p:cNvSpPr/>
          <p:nvPr/>
        </p:nvSpPr>
        <p:spPr>
          <a:xfrm>
            <a:off x="3264408" y="2875788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1051560"/>
            <a:ext cx="50749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12280" y="112471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1088136"/>
            <a:ext cx="46177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Encabezado y Cierre del Modal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Título 'Cargar Comprobante / Gasto' con botón X de cierre.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Identifica la acción contable y permite salir sin guardar.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Controlado por useModal(). Título cambia a 'Editar Comprobante' en modo edición.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1901952"/>
            <a:ext cx="50749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12280" y="197510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1938528"/>
            <a:ext cx="46177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Campo Concepto / Detalle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Texto descriptivo de la erogación (ej. 'Sueldos y jornales' o 'Factura de luz').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Identifica de qué se trata el gasto para que sea auditable y comprensible.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Almacenado en form.concept con validación required.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752344"/>
            <a:ext cx="50749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12280" y="2825496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2788920"/>
            <a:ext cx="46177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Campo Importe ($)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Monto numérico de la erogación en pesos.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Registra la cuantía económica del gasto.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Valor numérico mayor a 0, almacenado en form.amount.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3602736"/>
            <a:ext cx="50749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12280" y="3675888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2" y="3639312"/>
            <a:ext cx="46177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Selector de Comportamiento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Menú que define: Variable (varía con el volumen) o Fijo (constante en el período).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Clasifica la naturaleza económica del costo frente a la actividad productiva.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Impacta directamente: Variable → entra al CVU; Fijo → entra a la base del Punto de Equilibrio.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4453128"/>
            <a:ext cx="50749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12280" y="452628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4489704"/>
            <a:ext cx="46177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Selector de Tipo Funcional / Rubro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Desplegable con 4 opciones: MOI General, Materiales Directos (MPD), CIF de Salón, Gastos Admin.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Determina el destino contable del gasto en la matriz de absorción.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Si se elige MPD, se activa un campo extra para vincular el gasto a un producto del catálogo.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5303519"/>
            <a:ext cx="50749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12280" y="5376671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5340095"/>
            <a:ext cx="461772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Botones de Cancelar y Cargar Gasto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Acciones para abortar o confirmar el registro.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Guarda el comprobante en el store y recalcula todas las métricas al instante.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addVoucher() genera ID 'v-timestamp'; editVoucher() actualiza el existente en Zustand.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Análisis de Costo y Margen — Motor de Absorción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Desglose unitario [MPD + Cuota CIF], utilidad objetivo, punto de equilibrio y precio sugerido.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28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8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Sistema de Costos y Presupuestos  ·  Diapositiva 8 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550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" y="1024128"/>
            <a:ext cx="5998464" cy="5084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analisis_cos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5943600" cy="49530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463540" y="1417320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1897380" y="1769364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383280" y="2674620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3383280" y="4032504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5340096"/>
            <a:ext cx="274320" cy="27432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051560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12280" y="112471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1088136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Selector de Driver CIF/SIF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Interruptor para conmutar entre 'Unidades Producidas' y 'Horas de Producción'.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Cambia la base de prorrateo y recalcula al instante las cuotas de absorción de cada producto.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Si se eligen horas, los servicios que requieren más tiempo en el sillón absorben más CIF.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2072030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12280" y="214518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2108606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Control de Utilidad Deseada (Target Margin)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Slider de rango con la fórmula: Precio = Costo Total / (1 − Margen%).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Permite fijar el margen de ganancia deseado (5% a 90%) y ver los precios sugeridos.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Al basarse en el Costo Total (que absorbe 100% de indirectos), garantiza utilidad neta real.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3092500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12280" y="316565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3129076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Tabla: Desglose de Costo Técnico Unitario por Absorción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Columnas: Costo Directo (MPD), Cuota CIF/SIF, Costo Total Unitario, CVU, Precio Actual, Precio Sugerido, Estado.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Transparenta exactamente cuánto cuesta producir cada servicio y si el precio actual lo cubre.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Costo Total Unit. = MPD Unit. + Cuota CIF Unit. El badge de estado compara precio vs. costos.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4112971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12280" y="4186123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4149547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Tabla: Mix de Ventas y Contribución Marginal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Columnas: Mix %, Ingresos, Costos Variables, Margen Contribución, IMC %, Pto. Equilibrio, Competitividad.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Identifica los servicios que más aportan al pago de costos fijos y la posición competitiva.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IMC = Margen Unitario / Precio. Equilibrio (Unidades) = Costos Fijos Asignados / Margen Unitario.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5133441"/>
            <a:ext cx="5074920" cy="94731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12280" y="5206593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5170017"/>
            <a:ext cx="4617720" cy="874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E293B"/>
                </a:solidFill>
                <a:latin typeface="Segoe UI"/>
              </a:defRPr>
            </a:pPr>
            <a:r>
              <a:t>Guía Rápida para la Toma de Decisiones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Qué es: Tres tarjetas explicativas: Cuota CIF/SIF, Índice IMC, y Precio Sugerido.</a:t>
            </a:r>
          </a:p>
          <a:p>
            <a:pPr>
              <a:spcAft>
                <a:spcPts val="100"/>
              </a:spcAft>
              <a:defRPr sz="750">
                <a:solidFill>
                  <a:srgbClr val="475569"/>
                </a:solidFill>
                <a:latin typeface="Segoe UI"/>
              </a:defRPr>
            </a:pPr>
            <a:r>
              <a:t>Función: Explica en lenguaje llano cada concepto para que el dueño del negocio tome decisiones informadas.</a:t>
            </a:r>
          </a:p>
          <a:p>
            <a:pPr>
              <a:defRPr sz="700">
                <a:solidFill>
                  <a:srgbClr val="94A3B8"/>
                </a:solidFill>
                <a:latin typeface="Segoe UI"/>
              </a:defRPr>
            </a:pPr>
            <a:r>
              <a:t>Lógica: Contenido estático didáctico que contextualiza las columnas de la tabla anterior.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Metodología Financiera y Fórmulas del Sistema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Resumen de la lógica contable y las ecuaciones que gobiernan el motor de cálculo.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28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9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Sistema de Costos y Presupuestos  ·  Diapositiva 9 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550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51560"/>
            <a:ext cx="3520440" cy="23774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51560"/>
            <a:ext cx="35204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61288"/>
            <a:ext cx="3246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1E293B"/>
                </a:solidFill>
                <a:latin typeface="Segoe UI"/>
              </a:defRPr>
            </a:pPr>
            <a:r>
              <a:t>1. Absorción de Masa Consolidada CIF/SIF (100%)</a:t>
            </a:r>
          </a:p>
          <a:p>
            <a:pPr>
              <a:spcAft>
                <a:spcPts val="600"/>
              </a:spcAft>
              <a:defRPr sz="800">
                <a:solidFill>
                  <a:srgbClr val="1D4ED8"/>
                </a:solidFill>
                <a:latin typeface="Consolas"/>
              </a:defRPr>
            </a:pPr>
            <a:r>
              <a:t>Masa Indirecta = Σ MOI + Σ CIF + Σ Gastos Admin</a:t>
            </a:r>
            <a:br/>
            <a:r>
              <a:t>Factor Driver (%) = Driver_Prod / Total_Driver</a:t>
            </a:r>
            <a:br/>
            <a:r>
              <a:t>Cuota CIF Producto = Masa × Factor Driver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Ningún costo del negocio queda sin asignar. El 100% de los gastos generales se distribuye entre los productos.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051560"/>
            <a:ext cx="3520440" cy="23774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051560"/>
            <a:ext cx="35204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161288"/>
            <a:ext cx="3246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1E293B"/>
                </a:solidFill>
                <a:latin typeface="Segoe UI"/>
              </a:defRPr>
            </a:pPr>
            <a:r>
              <a:t>2. Costo Total y Costo Variable Unitario</a:t>
            </a:r>
          </a:p>
          <a:p>
            <a:pPr>
              <a:spcAft>
                <a:spcPts val="600"/>
              </a:spcAft>
              <a:defRPr sz="800">
                <a:solidFill>
                  <a:srgbClr val="1D4ED8"/>
                </a:solidFill>
                <a:latin typeface="Consolas"/>
              </a:defRPr>
            </a:pPr>
            <a:r>
              <a:t>Costo Total Unit. = MPD Unitario + Cuota CIF Unitaria</a:t>
            </a:r>
            <a:br/>
            <a:r>
              <a:t>Costo Variable Unit. = MPD Unit. + CIF Variable Unit.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Base del costeo por absorción integral para fijar precios sostenibles que cubran toda la estructura.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051560"/>
            <a:ext cx="3520440" cy="23774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051560"/>
            <a:ext cx="35204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161288"/>
            <a:ext cx="3246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1E293B"/>
                </a:solidFill>
                <a:latin typeface="Segoe UI"/>
              </a:defRPr>
            </a:pPr>
            <a:r>
              <a:t>3. Margen de Contribución e Índice IMC</a:t>
            </a:r>
          </a:p>
          <a:p>
            <a:pPr>
              <a:spcAft>
                <a:spcPts val="600"/>
              </a:spcAft>
              <a:defRPr sz="800">
                <a:solidFill>
                  <a:srgbClr val="1D4ED8"/>
                </a:solidFill>
                <a:latin typeface="Consolas"/>
              </a:defRPr>
            </a:pPr>
            <a:r>
              <a:t>Margen Unit. ($) = Precio Venta − Costo Variable Unit.</a:t>
            </a:r>
            <a:br/>
            <a:r>
              <a:t>IMC (%) = Margen Unitario / Precio Venta</a:t>
            </a:r>
            <a:br/>
            <a:r>
              <a:t>MC Total = Σ (Margen Unit. × Unidades)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Mide cuánto dinero deja cada servicio para pagar los costos fijos y generar utilidad.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11880"/>
            <a:ext cx="3520440" cy="23774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11880"/>
            <a:ext cx="35204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21608"/>
            <a:ext cx="3246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1E293B"/>
                </a:solidFill>
                <a:latin typeface="Segoe UI"/>
              </a:defRPr>
            </a:pPr>
            <a:r>
              <a:t>4. Punto de Equilibrio Multiproducto</a:t>
            </a:r>
          </a:p>
          <a:p>
            <a:pPr>
              <a:spcAft>
                <a:spcPts val="600"/>
              </a:spcAft>
              <a:defRPr sz="800">
                <a:solidFill>
                  <a:srgbClr val="1D4ED8"/>
                </a:solidFill>
                <a:latin typeface="Consolas"/>
              </a:defRPr>
            </a:pPr>
            <a:r>
              <a:t>PE ($) = Costos Fijos Totales / IMC Promedio</a:t>
            </a:r>
            <a:br/>
            <a:r>
              <a:t>PE (Unidades) = Costos Fijos / MC Ponderado</a:t>
            </a:r>
            <a:br/>
            <a:r>
              <a:t>Margen Seguridad ($) = Ventas − Ventas de Equilibrio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Facturación mínima requerida para no entrar en zona de pérdidas operativas.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611880"/>
            <a:ext cx="3520440" cy="23774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3611880"/>
            <a:ext cx="35204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721608"/>
            <a:ext cx="3246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1E293B"/>
                </a:solidFill>
                <a:latin typeface="Segoe UI"/>
              </a:defRPr>
            </a:pPr>
            <a:r>
              <a:t>5. Fijación de Precios (Target Margin)</a:t>
            </a:r>
          </a:p>
          <a:p>
            <a:pPr>
              <a:spcAft>
                <a:spcPts val="600"/>
              </a:spcAft>
              <a:defRPr sz="800">
                <a:solidFill>
                  <a:srgbClr val="1D4ED8"/>
                </a:solidFill>
                <a:latin typeface="Consolas"/>
              </a:defRPr>
            </a:pPr>
            <a:r>
              <a:t>Precio Sugerido = Costo Total Unit. / (1 − Margen%)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Fórmula de mark-up financiero sobre costo total que asegura rentabilidad neta real.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3611880"/>
            <a:ext cx="3520440" cy="23774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80" y="3611880"/>
            <a:ext cx="35204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3721608"/>
            <a:ext cx="3246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1E293B"/>
                </a:solidFill>
                <a:latin typeface="Segoe UI"/>
              </a:defRPr>
            </a:pPr>
            <a:r>
              <a:t>6. Resultado Operativo Global</a:t>
            </a:r>
          </a:p>
          <a:p>
            <a:pPr>
              <a:spcAft>
                <a:spcPts val="600"/>
              </a:spcAft>
              <a:defRPr sz="800">
                <a:solidFill>
                  <a:srgbClr val="1D4ED8"/>
                </a:solidFill>
                <a:latin typeface="Consolas"/>
              </a:defRPr>
            </a:pPr>
            <a:r>
              <a:t>Resultado Operativo = MC Total − Costos Fijos Totales</a:t>
            </a:r>
            <a:br/>
            <a:r>
              <a:t>Superávit si &gt; 0 (verde)</a:t>
            </a:r>
            <a:br/>
            <a:r>
              <a:t>Déficit si &lt; 0 (rojo)</a:t>
            </a:r>
          </a:p>
          <a:p>
            <a:pPr>
              <a:defRPr sz="750">
                <a:solidFill>
                  <a:srgbClr val="64748B"/>
                </a:solidFill>
                <a:latin typeface="Segoe UI"/>
              </a:defRPr>
            </a:pPr>
            <a:r>
              <a:t>Utilidad neta final del período simulado, tras absorber toda la estructura empresarial.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